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  <a:latin typeface="Segoe UI Semibold"/>
              </a:rPr>
              <a:t>ZERVE AI HACKATHON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 Semibold"/>
              </a:rPr>
              <a:t>HCendGame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B4D8"/>
                </a:solidFill>
                <a:latin typeface="Segoe UI Semibold"/>
              </a:rPr>
              <a:t>Autonomous AI That Writes Its Own Fraud Detection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8"/>
                </a:solidFill>
                <a:latin typeface="Segoe UI"/>
              </a:rPr>
              <a:t>Healthcare fraud costs the US $100–300B per year.
Most systems run on static rules. Ours rewrites them — autonomously.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B705"/>
                </a:solidFill>
                <a:latin typeface="Segoe UI"/>
              </a:rPr>
              <a:t>0.878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8"/>
                </a:solidFill>
                <a:latin typeface="Segoe UI"/>
              </a:rPr>
              <a:t>Best F1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B705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8"/>
                </a:solidFill>
                <a:latin typeface="Segoe UI"/>
              </a:rPr>
              <a:t>Total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B705"/>
                </a:solidFill>
                <a:latin typeface="Segoe UI"/>
              </a:rPr>
              <a:t>$300B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8"/>
                </a:solidFill>
                <a:latin typeface="Segoe UI"/>
              </a:rPr>
              <a:t>Annual Fraud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B705"/>
                </a:solidFill>
                <a:latin typeface="Segoe UI"/>
              </a:rPr>
              <a:t>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8"/>
                </a:solidFill>
                <a:latin typeface="Segoe UI"/>
              </a:rPr>
              <a:t>Rule Update 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0" y="647395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rxhcc-app.vercel.app  ·  sechan9999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2/13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Static Rules Are Written Once — Gamed Immediately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9018" y="1234440"/>
            <a:ext cx="7832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01368"/>
            <a:ext cx="54864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C4D8"/>
                </a:solidFill>
                <a:latin typeface="Segoe UI"/>
              </a:rPr>
              <a:t>Healthcare fraud: $100–300B stolen annually from US payers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51176"/>
            <a:ext cx="54864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C4D8"/>
                </a:solidFill>
                <a:latin typeface="Segoe UI"/>
              </a:rPr>
              <a:t>Current detection runs on hand-written ICD/NDC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00984"/>
            <a:ext cx="54864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C4D8"/>
                </a:solidFill>
                <a:latin typeface="Segoe UI"/>
              </a:rPr>
              <a:t>Fraudsters reverse-engineer rule patterns within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0792"/>
            <a:ext cx="54864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941064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C4D8"/>
                </a:solidFill>
                <a:latin typeface="Segoe UI"/>
              </a:rPr>
              <a:t>Data science teams update rules quarterly — too slow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54864" cy="4572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9087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C4D8"/>
                </a:solidFill>
                <a:latin typeface="Segoe UI"/>
              </a:rPr>
              <a:t>Single-claim analysis misses temporal &amp; network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91640"/>
            <a:ext cx="3383280" cy="329184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1691640"/>
            <a:ext cx="54864" cy="32918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"/>
              </a:rPr>
              <a:t>Rule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4D6D"/>
                </a:solidFill>
                <a:latin typeface="Segoe UI"/>
              </a:rPr>
              <a:t>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avg time to exploit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3/13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Our Answer: AI That Continuously Rewrites Its Own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9414" y="1234440"/>
            <a:ext cx="8872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The Solution — </a:t>
            </a:r>
            <a:r>
              <a:rPr sz="1600" b="0" dirty="0" err="1">
                <a:solidFill>
                  <a:srgbClr val="00B4D8"/>
                </a:solidFill>
                <a:latin typeface="Segoe UI Semibold"/>
              </a:rPr>
              <a:t>HCendGame</a:t>
            </a:r>
            <a:endParaRPr sz="1600" b="0" dirty="0">
              <a:solidFill>
                <a:srgbClr val="00B4D8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56616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5661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Segoe UI Semibold"/>
              </a:rPr>
              <a:t>Rule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ICD-10 / NDC / HCC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cross-reference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Conflict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GLP-1 abuse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HCC upcoding alerts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356616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566160" cy="54864"/>
          </a:xfrm>
          <a:prstGeom prst="rect">
            <a:avLst/>
          </a:prstGeom>
          <a:solidFill>
            <a:srgbClr val="FF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705"/>
                </a:solidFill>
                <a:latin typeface="Segoe UI Semibold"/>
              </a:rPr>
              <a:t>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OpenAI GPT-4o-mini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GPT-4o (deep analysis)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Medical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Structured JSON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1691640"/>
            <a:ext cx="356616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1691640"/>
            <a:ext cx="3566160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D67E"/>
                </a:solidFill>
                <a:latin typeface="Segoe UI Semibold"/>
              </a:rPr>
              <a:t>AutoResearch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LOOP FOREVER (Karpathy)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71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Autonomous rule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F1-gated git 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60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No human intervention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• Runs indefinitely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4/13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5-Stage LangGraph Pipeline — Catches What Single Rules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3508" y="1234440"/>
            <a:ext cx="7097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920240" cy="21945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9202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Segoe UI Semibold"/>
              </a:rPr>
              <a:t>1
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ClaimRecord
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38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2011680"/>
            <a:ext cx="1920240" cy="21945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07208" y="2011680"/>
            <a:ext cx="19202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Segoe UI Semibold"/>
              </a:rPr>
              <a:t>2
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0175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ICD/NDC/HCC
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788920"/>
            <a:ext cx="338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2011680"/>
            <a:ext cx="1920240" cy="21945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11496" y="2011680"/>
            <a:ext cx="1920240" cy="64008"/>
          </a:xfrm>
          <a:prstGeom prst="rect">
            <a:avLst/>
          </a:prstGeom>
          <a:solidFill>
            <a:srgbClr val="FF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11496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B705"/>
                </a:solidFill>
                <a:latin typeface="Segoe UI Semibold"/>
              </a:rPr>
              <a:t>3
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30175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Nova Pro
clinical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788920"/>
            <a:ext cx="338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15784" y="2011680"/>
            <a:ext cx="1920240" cy="21945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15784" y="2011680"/>
            <a:ext cx="19202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15784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Segoe UI Semibold"/>
              </a:rPr>
              <a:t>4
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4" y="30175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Risk level
computation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788920"/>
            <a:ext cx="338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0072" y="2011680"/>
            <a:ext cx="1920240" cy="21945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20072" y="2011680"/>
            <a:ext cx="1920240" cy="6400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0072" y="212140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D67E"/>
                </a:solidFill>
                <a:latin typeface="Segoe UI Semibold"/>
              </a:rPr>
              <a:t>5
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0175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BLOCK / REVIEW
/ APPROVE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4D8"/>
                </a:solidFill>
                <a:latin typeface="Segoe UI"/>
              </a:rPr>
              <a:t>✓  Graceful degradation: LangGraph unavailable → sequential fallback    ✓  OpenAI unavailable → rule-only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11155680" cy="77724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8"/>
                </a:solidFill>
                <a:latin typeface="Segoe UI"/>
              </a:rPr>
              <a:t>Streamlit Dashboard  —  Real-time Scan  |  Batch Validate  |  AI Investigator Chat  | 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5/13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Rule Engine: ICD / NDC / HCC Cross-Validation in One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5384" y="1234440"/>
            <a:ext cx="8786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engine/rules.py — Clinical Validation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926080" cy="6858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 Semibold"/>
              </a:rPr>
              <a:t>ICD-NDC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Validates drug is appropriate for diagnosis (E11→Ozempic ✓, I10→Ozempic ✗)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2926080" cy="6858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 Semibold"/>
              </a:rPr>
              <a:t>ICD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06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Flags mutually exclusive diagnoses (E10 + E11 = Type 1 + Type 2 simultaneously)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37560"/>
            <a:ext cx="2926080" cy="6858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 Semibold"/>
              </a:rPr>
              <a:t>GLP-1 Abuse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29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Semaglutide/Liraglutide prescribed without diabetes or obesity ICD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2926080" cy="6858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 Semibold"/>
              </a:rPr>
              <a:t>HCC Upcoding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2519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HCC18 (Diabetes+complications) billed without supporting complication ICD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83480"/>
            <a:ext cx="2926080" cy="6858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Segoe UI Semibold"/>
              </a:rPr>
              <a:t>Provider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0749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Same provider submitting &gt;N identical claims in a rolling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  <a:latin typeface="Segoe UI"/>
              </a:rPr>
              <a:t>Adding a rule = 1 dict entry in engine/rules.py  ·  No other file changes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6/13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AutoResearch: The AI Writes, Tests, and Commits Its Own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0122" y="1234440"/>
            <a:ext cx="7801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Inspired by </a:t>
            </a:r>
            <a:r>
              <a:rPr sz="1600" b="0" dirty="0" err="1">
                <a:solidFill>
                  <a:srgbClr val="00B4D8"/>
                </a:solidFill>
                <a:latin typeface="Segoe UI Semibold"/>
              </a:rPr>
              <a:t>Karpathy's</a:t>
            </a:r>
            <a:r>
              <a:rPr sz="1600" b="0" dirty="0">
                <a:solidFill>
                  <a:srgbClr val="00B4D8"/>
                </a:solidFill>
                <a:latin typeface="Segoe UI Semibold"/>
              </a:rPr>
              <a:t> LOOP FOREVER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920240" cy="12801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GPT-4o
proposes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231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2011680"/>
            <a:ext cx="1920240" cy="12801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201168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214884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Generate
500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4231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011680"/>
            <a:ext cx="1920240" cy="12801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11496" y="201168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11496" y="214884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Run
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4231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4" y="2011680"/>
            <a:ext cx="1920240" cy="12801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15784" y="2011680"/>
            <a:ext cx="1920240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15784" y="214884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F1 improves?
Keep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42316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0072" y="2011680"/>
            <a:ext cx="1920240" cy="128016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20072" y="2011680"/>
            <a:ext cx="192024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0072" y="2148840"/>
            <a:ext cx="192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F1 drops?
git reset --hard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74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  <a:latin typeface="Segoe UI"/>
              </a:rPr>
              <a:t>↺  Repeat indefinitely  —  no human required after initialization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77639"/>
            <a:ext cx="10881360" cy="2103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06908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D67E"/>
                </a:solidFill>
                <a:latin typeface="Courier New"/>
              </a:rPr>
              <a:t>while True:  # LOOP FOREVER
    rule = gpt_analyzer.propose_rule(experiment_history)
    f1_new = validate(rule, synthetic_claims_500)
    if f1_new &gt; f1_baseline:
        git.commit(rule)      # keep — F1 improved
        f1_baseline = f1_new
    else:
        git.reset("--hard")   # discard — F1 regressed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7/13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11 Cumulative Experiments — F1 Improved 0.852 → 0.878 (+3.0%)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7354" y="1234440"/>
            <a:ext cx="7684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00B4D8"/>
                </a:solidFill>
                <a:latin typeface="Segoe UI Semibold"/>
              </a:rPr>
              <a:t>AutoResearch</a:t>
            </a:r>
            <a:r>
              <a:rPr sz="1600" b="0" dirty="0">
                <a:solidFill>
                  <a:srgbClr val="00B4D8"/>
                </a:solidFill>
                <a:latin typeface="Segoe UI Semibold"/>
              </a:rPr>
              <a:t> Results  |  3 new experiments in this cycle (exp08–exp10)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B705"/>
                </a:solidFill>
                <a:latin typeface="Segoe UI"/>
              </a:rPr>
              <a:t>0.878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Best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D67E"/>
                </a:solidFill>
                <a:latin typeface="Segoe UI"/>
              </a:rPr>
              <a:t>+0.026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F1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D67E"/>
                </a:solidFill>
                <a:latin typeface="Segoe UI"/>
              </a:rPr>
              <a:t>2/3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Rules Kept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37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B705"/>
                </a:solidFill>
                <a:latin typeface="Segoe U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Total Exps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11064240" cy="4297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Exp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00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Rule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00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84448"/>
            <a:ext cx="11064240" cy="4297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301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exp08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301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SEQUENCE_GAP_ANOMALY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30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0.852 -&gt; 0.871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301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D67E"/>
                </a:solidFill>
                <a:latin typeface="Segoe UI"/>
              </a:rPr>
              <a:t>Keep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14216"/>
            <a:ext cx="11064240" cy="4297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05993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exp09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599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MULTI_ICD_ESCALATION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0599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0.871 -&gt; 0.878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59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D67E"/>
                </a:solidFill>
                <a:latin typeface="Segoe UI"/>
              </a:rPr>
              <a:t>Keep  (best)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43984"/>
            <a:ext cx="11064240" cy="4297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48970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exp10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4897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PROVIDER_FREQ_SPIKE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8970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0.878 -&gt; 0.875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4897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D6D"/>
                </a:solidFill>
                <a:latin typeface="Segoe UI"/>
              </a:rPr>
              <a:t>Discard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8/13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LSTM Model: 12-Month History Catches What Snapshot Rules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4708" y="1234440"/>
            <a:ext cx="6386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Sequential Pattern Detection — lstm_fwa_model.py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Segoe UI"/>
              </a:rPr>
              <a:t>Input: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6916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12-month claim sequences  ×  13 engineered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96312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Segoe UI"/>
              </a:rPr>
              <a:t>Architecture: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49631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Unidirectional LSTM (2L, 128 hidden) + Attention  [real-time optimized]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0984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Segoe UI"/>
              </a:rP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30098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FWA probability + attention weights per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05656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Segoe UI"/>
              </a:rPr>
              <a:t>Training: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10565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10,000 synthetic claims (5% FWA) + class balancing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1032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Segoe UI"/>
              </a:rPr>
              <a:t>Explainability: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9103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Attention shows which months drove the prediction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691640"/>
            <a:ext cx="3291840" cy="3977639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03920" y="1691640"/>
            <a:ext cx="3291840" cy="54864"/>
          </a:xfrm>
          <a:prstGeom prst="rect">
            <a:avLst/>
          </a:prstGeom>
          <a:solidFill>
            <a:srgbClr val="FF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B705"/>
                </a:solidFill>
                <a:latin typeface="Segoe UI"/>
              </a:rPr>
              <a:t>Target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8"/>
                </a:solidFill>
                <a:latin typeface="Segoe UI"/>
              </a:rPr>
              <a:t>AUC-ROC   &gt; 0.90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98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8"/>
                </a:solidFill>
                <a:latin typeface="Segoe UI"/>
              </a:rPr>
              <a:t>Precision   &gt; 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4655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8"/>
                </a:solidFill>
                <a:latin typeface="Segoe UI"/>
              </a:rPr>
              <a:t>Recall   &gt; 0.80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325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8"/>
                </a:solidFill>
                <a:latin typeface="Segoe UI"/>
              </a:rPr>
              <a:t>F1   &gt; 0.82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4D8"/>
                </a:solidFill>
                <a:latin typeface="Segoe UI"/>
              </a:rPr>
              <a:t>CRITICAL ≥ 0.80  ·  WARNING ≥ 0.50  ·  NORMAL &lt; 0.50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9/13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SHAP Explainability — Every Decision Is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  <a:latin typeface="Segoe UI Semibold"/>
              </a:rPr>
              <a:t>shap_fwa_explainer.py  |  Top drivers: GLP-1 flag, HCC upcoding, Provider deviation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56232"/>
            <a:ext cx="45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GLP-1 flag &amp; HCC upcoding = strongest FWA signals (SHAP &gt; 0.4)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06040"/>
            <a:ext cx="45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Provider amount deviation drives mid-tier fraud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55848"/>
            <a:ext cx="45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9125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High claim amount + HCC score = compounding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105656"/>
            <a:ext cx="45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4106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Blue = low feature value  |  Red = high feature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855464"/>
            <a:ext cx="457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8"/>
                </a:solidFill>
                <a:latin typeface="Segoe UI"/>
              </a:rPr>
              <a:t>Regulator-ready — full audit trail per claim</a:t>
            </a:r>
          </a:p>
        </p:txBody>
      </p:sp>
      <p:pic>
        <p:nvPicPr>
          <p:cNvPr id="16" name="Picture 15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9630"/>
            <a:ext cx="5303520" cy="44496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  <a:latin typeface="Segoe UI"/>
              </a:rPr>
              <a:t>shap_global_importance.png  ·  shap_waterfall.png  ·  fwa_shap_report.png  — repo root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10/13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Five Real-World Fraud Scenarios — Detected in &lt; 1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5630" y="1234440"/>
            <a:ext cx="89658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Detection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338560" cy="6583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6479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Rule Triggered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64792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76479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Segoe UI"/>
              </a:rPr>
              <a:t>AI Reasoning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11338560" cy="6583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E10 + E11 simultaneous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2316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ICD Conflict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23160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D6D"/>
                </a:solidFill>
                <a:latin typeface="Segoe U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231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Type 1 + Type 2 diabetes at same time — impossible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08376"/>
            <a:ext cx="1133856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8152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Hypertension + GLP-1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08152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GLP-1 Abuse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081528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D6D"/>
                </a:solidFill>
                <a:latin typeface="Segoe UI"/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0815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Ozempic billed with I10 only — no qualifying dx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66744"/>
            <a:ext cx="11338560" cy="6583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739896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E11.9 + HCC18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73989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HCC Upcoding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39896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D6D"/>
                </a:solidFill>
                <a:latin typeface="Segoe UI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7398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Complication HCC billed without supporting ICD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25112"/>
            <a:ext cx="1133856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398264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Keytruda + Hypertension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3982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NDC Mismatch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39826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B705"/>
                </a:solidFill>
                <a:latin typeface="Segoe UI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3982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Oncology drug for non-oncology diagnosis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83480"/>
            <a:ext cx="11338560" cy="658368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05663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Normal claim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05663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All rules 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5056632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D67E"/>
                </a:solidFill>
                <a:latin typeface="Segoe UI"/>
              </a:rPr>
              <a:t>CLEAN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0566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Auto-approved, no review queue entry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11/13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Modern Stack — Minimal Dependencies, Maximum Portability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234440"/>
            <a:ext cx="8183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74320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Segoe UI Semibold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37744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01752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React 19 (Vercel build)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65760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Inline SVG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429768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Zero chart lib deps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691640"/>
            <a:ext cx="274320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691640"/>
            <a:ext cx="2743200" cy="54864"/>
          </a:xfrm>
          <a:prstGeom prst="rect">
            <a:avLst/>
          </a:prstGeom>
          <a:solidFill>
            <a:srgbClr val="FF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705"/>
                </a:solidFill>
                <a:latin typeface="Segoe UI Semibold"/>
              </a:rPr>
              <a:t>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7744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OpenAI GPT-4o-mini (primary)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301752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GPT-4o (deep analysis)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65760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LangGraph StateGraph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429768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SHAP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493776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PyTorch LSTM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691640"/>
            <a:ext cx="274320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691640"/>
            <a:ext cx="2743200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7E"/>
                </a:solidFill>
                <a:latin typeface="Segoe UI Semibold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37744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Python 3.12+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01752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Pandas + NumPy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65760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NetworkX (graph)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29768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Custom Rule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93776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pytest (11 tests)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691640"/>
            <a:ext cx="2743200" cy="438912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89720" y="1691640"/>
            <a:ext cx="2743200" cy="54864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60" y="1810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0C4D8"/>
                </a:solidFill>
                <a:latin typeface="Segoe UI Semibold"/>
              </a:rPr>
              <a:t>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237744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Vercel (frontend)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9448" y="301752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Git auto-commit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365760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requirements.txt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4297680"/>
            <a:ext cx="25237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  <a:latin typeface="Segoe UI"/>
              </a:rPr>
              <a:t>• AWS SageMaker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8"/>
                </a:solidFill>
                <a:latin typeface="Segoe UI"/>
              </a:rPr>
              <a:t>HCendGame  |  RxHCC FWA Detection  |  12/13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 Semibold"/>
              </a:rPr>
              <a:t>Live System — No Signup, No API Key Required to Explore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5722" y="1234440"/>
            <a:ext cx="8715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00B4D8"/>
                </a:solidFill>
                <a:latin typeface="Segoe UI Semibold"/>
              </a:rPr>
              <a:t>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  <a:latin typeface="Segoe UI Semibold"/>
              </a:rPr>
              <a:t>Real-time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745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8"/>
                </a:solidFill>
                <a:latin typeface="Segoe UI"/>
              </a:rPr>
              <a:t>Enter single claim → instant rule + AI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4864" cy="685800"/>
          </a:xfrm>
          <a:prstGeom prst="rect">
            <a:avLst/>
          </a:prstGeom>
          <a:solidFill>
            <a:srgbClr val="FF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B705"/>
                </a:solidFill>
                <a:latin typeface="Segoe UI Semibold"/>
              </a:rPr>
              <a:t>Batch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889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8"/>
                </a:solidFill>
                <a:latin typeface="Segoe UI"/>
              </a:rPr>
              <a:t>Upload CSV → GPT surfaces complex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54864" cy="68580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D67E"/>
                </a:solidFill>
                <a:latin typeface="Segoe UI Semibold"/>
              </a:rPr>
              <a:t>AI Investigator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7033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8"/>
                </a:solidFill>
                <a:latin typeface="Segoe UI"/>
              </a:rPr>
              <a:t>Natural language fraud queries (multi-turn)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72000"/>
            <a:ext cx="54864" cy="68580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0C4D8"/>
                </a:solidFill>
                <a:latin typeface="Segoe UI Semibold"/>
              </a:rPr>
              <a:t>AutoResearch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6177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8"/>
                </a:solidFill>
                <a:latin typeface="Segoe UI"/>
              </a:rPr>
              <a:t>Watch LOOP FOREVER in terminal output style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577840"/>
            <a:ext cx="8503920" cy="9144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0" y="5577840"/>
            <a:ext cx="8503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57150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B705"/>
                </a:solidFill>
                <a:latin typeface="Segoe UI Semibold"/>
              </a:rPr>
              <a:t>rxhcc-app.vercel.app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B0C4D8"/>
                </a:solidFill>
                <a:latin typeface="Segoe UI Semibold"/>
              </a:rPr>
              <a:t>Static rules are written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 Semibold"/>
              </a:rPr>
              <a:t>HCendGame rewrites them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5760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B705"/>
                </a:solidFill>
                <a:latin typeface="Segoe UI"/>
              </a:rPr>
              <a:t>0.821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baseline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108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B4D8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108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B705"/>
                </a:solidFill>
                <a:latin typeface="Segoe UI"/>
              </a:rPr>
              <a:t>0.878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autonomous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8"/>
                </a:solidFill>
                <a:latin typeface="Segoe UI"/>
              </a:rPr>
              <a:t>10 experiments  ·  8 rules kept  ·  zero human interventions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Segoe UI"/>
              </a:rPr>
              <a:t>rxhcc-app.vercel.app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  <a:latin typeface="Segoe UI"/>
              </a:rPr>
              <a:t>github.com/sechan9999/FWAdetection  ·  sechan9999@github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1177</Words>
  <Application>Microsoft Office PowerPoint</Application>
  <PresentationFormat>Custom</PresentationFormat>
  <Paragraphs>221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Tak, Sechan</cp:lastModifiedBy>
  <cp:revision>2</cp:revision>
  <dcterms:created xsi:type="dcterms:W3CDTF">2013-01-27T09:14:16Z</dcterms:created>
  <dcterms:modified xsi:type="dcterms:W3CDTF">2026-04-17T13:08:16Z</dcterms:modified>
  <cp:category/>
</cp:coreProperties>
</file>